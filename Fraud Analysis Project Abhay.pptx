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771776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24427423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2498111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124574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3215463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31665416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3929591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791961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3161281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201202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5820014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2220798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9129792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20435083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38257729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BE8C8B9-745B-4632-9380-8D504A4AB06F}" type="datetimeFigureOut">
              <a:rPr lang="en-IN" smtClean="0"/>
              <a:t>10-11-2025</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26A6D4BF-D48C-49CC-A47E-0CC5D8C860F3}" type="slidenum">
              <a:rPr lang="en-IN" smtClean="0"/>
              <a:t>‹#›</a:t>
            </a:fld>
            <a:endParaRPr lang="en-IN" dirty="0"/>
          </a:p>
        </p:txBody>
      </p:sp>
    </p:spTree>
    <p:extLst>
      <p:ext uri="{BB962C8B-B14F-4D97-AF65-F5344CB8AC3E}">
        <p14:creationId xmlns:p14="http://schemas.microsoft.com/office/powerpoint/2010/main" val="3301796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BE8C8B9-745B-4632-9380-8D504A4AB06F}" type="datetimeFigureOut">
              <a:rPr lang="en-IN" smtClean="0"/>
              <a:t>10-11-2025</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6A6D4BF-D48C-49CC-A47E-0CC5D8C860F3}" type="slidenum">
              <a:rPr lang="en-IN" smtClean="0"/>
              <a:t>‹#›</a:t>
            </a:fld>
            <a:endParaRPr lang="en-IN" dirty="0"/>
          </a:p>
        </p:txBody>
      </p:sp>
    </p:spTree>
    <p:extLst>
      <p:ext uri="{BB962C8B-B14F-4D97-AF65-F5344CB8AC3E}">
        <p14:creationId xmlns:p14="http://schemas.microsoft.com/office/powerpoint/2010/main" val="35657266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F814-B611-41BE-90AF-5B7E1EC604F3}"/>
              </a:ext>
            </a:extLst>
          </p:cNvPr>
          <p:cNvSpPr>
            <a:spLocks noGrp="1"/>
          </p:cNvSpPr>
          <p:nvPr>
            <p:ph type="ctrTitle"/>
          </p:nvPr>
        </p:nvSpPr>
        <p:spPr>
          <a:xfrm>
            <a:off x="1524000" y="901149"/>
            <a:ext cx="9144000" cy="3790122"/>
          </a:xfrm>
        </p:spPr>
        <p:txBody>
          <a:bodyPr>
            <a:normAutofit/>
          </a:bodyPr>
          <a:lstStyle/>
          <a:p>
            <a:r>
              <a:rPr lang="en-IN" b="0" i="0" dirty="0">
                <a:effectLst/>
                <a:latin typeface="system-ui"/>
              </a:rPr>
              <a:t>Fraud Transaction Analysis Project</a:t>
            </a:r>
            <a:br>
              <a:rPr lang="en-IN" b="0" i="0" dirty="0">
                <a:effectLst/>
                <a:latin typeface="system-ui"/>
              </a:rPr>
            </a:br>
            <a:r>
              <a:rPr lang="en-IN" b="0" i="0" dirty="0">
                <a:effectLst/>
                <a:latin typeface="system-ui"/>
              </a:rPr>
              <a:t>                      </a:t>
            </a:r>
            <a:r>
              <a:rPr lang="en-IN" sz="3600" b="0" i="0" dirty="0">
                <a:effectLst/>
                <a:latin typeface="system-ui"/>
              </a:rPr>
              <a:t>By : Abhay Vardhan Pandey</a:t>
            </a:r>
            <a:endParaRPr lang="en-IN" sz="3600" dirty="0"/>
          </a:p>
        </p:txBody>
      </p:sp>
    </p:spTree>
    <p:extLst>
      <p:ext uri="{BB962C8B-B14F-4D97-AF65-F5344CB8AC3E}">
        <p14:creationId xmlns:p14="http://schemas.microsoft.com/office/powerpoint/2010/main" val="2151236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E0517-4F45-4503-B842-862E778C10B4}"/>
              </a:ext>
            </a:extLst>
          </p:cNvPr>
          <p:cNvSpPr>
            <a:spLocks noGrp="1"/>
          </p:cNvSpPr>
          <p:nvPr>
            <p:ph type="title"/>
          </p:nvPr>
        </p:nvSpPr>
        <p:spPr/>
        <p:txBody>
          <a:bodyPr>
            <a:normAutofit/>
          </a:bodyPr>
          <a:lstStyle/>
          <a:p>
            <a:r>
              <a:rPr lang="en-IN" sz="4000" dirty="0"/>
              <a:t>1. Project Overview </a:t>
            </a:r>
          </a:p>
        </p:txBody>
      </p:sp>
      <p:sp>
        <p:nvSpPr>
          <p:cNvPr id="3" name="Content Placeholder 2">
            <a:extLst>
              <a:ext uri="{FF2B5EF4-FFF2-40B4-BE49-F238E27FC236}">
                <a16:creationId xmlns:a16="http://schemas.microsoft.com/office/drawing/2014/main" id="{06955B53-8CC6-41E2-843D-160C3C659350}"/>
              </a:ext>
            </a:extLst>
          </p:cNvPr>
          <p:cNvSpPr>
            <a:spLocks noGrp="1"/>
          </p:cNvSpPr>
          <p:nvPr>
            <p:ph idx="1"/>
          </p:nvPr>
        </p:nvSpPr>
        <p:spPr>
          <a:xfrm>
            <a:off x="838200" y="1825625"/>
            <a:ext cx="10515600" cy="4561923"/>
          </a:xfrm>
        </p:spPr>
        <p:txBody>
          <a:bodyPr>
            <a:normAutofit/>
          </a:bodyPr>
          <a:lstStyle/>
          <a:p>
            <a:pPr marL="0" indent="0">
              <a:buNone/>
            </a:pPr>
            <a:r>
              <a:rPr lang="en-US" dirty="0"/>
              <a:t>The FinTech industry handles millions of digital transactions daily. With rapid growth comes the challenge of fraudulent activities such as unauthorized access and suspicious behavior. The analyst’s goal is to analyze financial transaction data and detect fraudulent activity patterns.</a:t>
            </a:r>
          </a:p>
          <a:p>
            <a:pPr marL="0" indent="0">
              <a:buNone/>
            </a:pPr>
            <a:endParaRPr lang="en-US" dirty="0"/>
          </a:p>
          <a:p>
            <a:pPr marL="0" indent="0">
              <a:buNone/>
            </a:pPr>
            <a:r>
              <a:rPr lang="en-US" sz="4000" dirty="0">
                <a:solidFill>
                  <a:schemeClr val="accent2">
                    <a:lumMod val="75000"/>
                  </a:schemeClr>
                </a:solidFill>
              </a:rPr>
              <a:t>2. Objective </a:t>
            </a:r>
            <a:r>
              <a:rPr lang="en-US" dirty="0"/>
              <a:t>To perform data analysis using SQL and Python (Pandas, NumPy) to identify fraud patterns and provide actionable insights to the FinTech company. </a:t>
            </a:r>
          </a:p>
          <a:p>
            <a:pPr marL="0" indent="0">
              <a:buNone/>
            </a:pPr>
            <a:endParaRPr lang="en-IN" dirty="0"/>
          </a:p>
        </p:txBody>
      </p:sp>
    </p:spTree>
    <p:extLst>
      <p:ext uri="{BB962C8B-B14F-4D97-AF65-F5344CB8AC3E}">
        <p14:creationId xmlns:p14="http://schemas.microsoft.com/office/powerpoint/2010/main" val="11775130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CF2804-B12B-4E29-8BAF-EE8ACBD901CD}"/>
              </a:ext>
            </a:extLst>
          </p:cNvPr>
          <p:cNvSpPr>
            <a:spLocks noGrp="1"/>
          </p:cNvSpPr>
          <p:nvPr>
            <p:ph type="title"/>
          </p:nvPr>
        </p:nvSpPr>
        <p:spPr>
          <a:xfrm>
            <a:off x="838200" y="365125"/>
            <a:ext cx="10515600" cy="562527"/>
          </a:xfrm>
        </p:spPr>
        <p:txBody>
          <a:bodyPr>
            <a:noAutofit/>
          </a:bodyPr>
          <a:lstStyle/>
          <a:p>
            <a:r>
              <a:rPr lang="en-IN" sz="2400" dirty="0">
                <a:latin typeface="+mn-lt"/>
              </a:rPr>
              <a:t>3. Tools &amp; Technologies : SQL, Python, NumPy, Pandas, Matplotlib, Seaborn, Power BI (Optional)</a:t>
            </a:r>
          </a:p>
        </p:txBody>
      </p:sp>
      <p:sp>
        <p:nvSpPr>
          <p:cNvPr id="3" name="Content Placeholder 2">
            <a:extLst>
              <a:ext uri="{FF2B5EF4-FFF2-40B4-BE49-F238E27FC236}">
                <a16:creationId xmlns:a16="http://schemas.microsoft.com/office/drawing/2014/main" id="{3D30D6F6-70B4-4F48-956E-D5EFF638AE7A}"/>
              </a:ext>
            </a:extLst>
          </p:cNvPr>
          <p:cNvSpPr>
            <a:spLocks noGrp="1"/>
          </p:cNvSpPr>
          <p:nvPr>
            <p:ph idx="1"/>
          </p:nvPr>
        </p:nvSpPr>
        <p:spPr>
          <a:xfrm>
            <a:off x="715617" y="1126435"/>
            <a:ext cx="10638183" cy="5050527"/>
          </a:xfrm>
        </p:spPr>
        <p:txBody>
          <a:bodyPr>
            <a:normAutofit/>
          </a:bodyPr>
          <a:lstStyle/>
          <a:p>
            <a:pPr marL="0" indent="0">
              <a:buNone/>
            </a:pPr>
            <a:r>
              <a:rPr lang="en-IN" sz="2400" dirty="0">
                <a:solidFill>
                  <a:schemeClr val="accent2">
                    <a:lumMod val="75000"/>
                  </a:schemeClr>
                </a:solidFill>
              </a:rPr>
              <a:t>4. Dataset Description Dataset </a:t>
            </a:r>
            <a:r>
              <a:rPr lang="en-IN" sz="2000" dirty="0"/>
              <a:t>includes columns such as transaction_id, customer_id, transaction_date, transaction_amount, transaction_type, merchant_id, device_type, location, channel, account_balance, and is_fraud.</a:t>
            </a:r>
          </a:p>
          <a:p>
            <a:pPr marL="0" indent="0">
              <a:buNone/>
            </a:pPr>
            <a:r>
              <a:rPr lang="en-IN" sz="2400" dirty="0">
                <a:solidFill>
                  <a:schemeClr val="accent2">
                    <a:lumMod val="75000"/>
                  </a:schemeClr>
                </a:solidFill>
              </a:rPr>
              <a:t>5. Business Requirement</a:t>
            </a:r>
            <a:r>
              <a:rPr lang="en-IN" dirty="0"/>
              <a:t>:</a:t>
            </a:r>
          </a:p>
          <a:p>
            <a:pPr marL="0" indent="0">
              <a:buNone/>
            </a:pPr>
            <a:r>
              <a:rPr lang="en-US" sz="2000" dirty="0"/>
              <a:t>1.What is the overall fraud rate? Answer :  The overall fraud rate is 5.78%</a:t>
            </a:r>
          </a:p>
          <a:p>
            <a:pPr marL="0" indent="0">
              <a:buNone/>
            </a:pPr>
            <a:r>
              <a:rPr lang="en-US" sz="2000" dirty="0"/>
              <a:t>2. Which transaction types and devices have highest fraud</a:t>
            </a:r>
            <a:r>
              <a:rPr lang="en-US" sz="2400" dirty="0"/>
              <a:t>? </a:t>
            </a:r>
          </a:p>
          <a:p>
            <a:pPr marL="0" indent="0">
              <a:buNone/>
            </a:pPr>
            <a:endParaRPr lang="en-US" sz="2400" dirty="0"/>
          </a:p>
          <a:p>
            <a:pPr marL="0" indent="0">
              <a:buNone/>
            </a:pPr>
            <a:endParaRPr lang="en-US" sz="2400" dirty="0"/>
          </a:p>
          <a:p>
            <a:pPr marL="0" indent="0">
              <a:buNone/>
            </a:pPr>
            <a:endParaRPr lang="en-US" sz="2400" dirty="0"/>
          </a:p>
        </p:txBody>
      </p:sp>
      <p:pic>
        <p:nvPicPr>
          <p:cNvPr id="1032" name="Picture 8">
            <a:extLst>
              <a:ext uri="{FF2B5EF4-FFF2-40B4-BE49-F238E27FC236}">
                <a16:creationId xmlns:a16="http://schemas.microsoft.com/office/drawing/2014/main" id="{74296F4E-2393-4F04-AFE8-60A5E0078F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3538330"/>
            <a:ext cx="10055086" cy="3319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6925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D6281-9AD5-422C-BAA4-15F1063FA1E3}"/>
              </a:ext>
            </a:extLst>
          </p:cNvPr>
          <p:cNvSpPr>
            <a:spLocks noGrp="1"/>
          </p:cNvSpPr>
          <p:nvPr>
            <p:ph type="title"/>
          </p:nvPr>
        </p:nvSpPr>
        <p:spPr>
          <a:xfrm>
            <a:off x="838200" y="365126"/>
            <a:ext cx="10515600" cy="602284"/>
          </a:xfrm>
        </p:spPr>
        <p:txBody>
          <a:bodyPr>
            <a:normAutofit fontScale="90000"/>
          </a:bodyPr>
          <a:lstStyle/>
          <a:p>
            <a:r>
              <a:rPr lang="en-US" sz="2000" dirty="0"/>
              <a:t>3. What are high-risk customers and locations?</a:t>
            </a:r>
            <a:br>
              <a:rPr lang="en-US" sz="2000" dirty="0"/>
            </a:br>
            <a:r>
              <a:rPr lang="en-US" sz="2000" dirty="0"/>
              <a:t>Answer : High risk customer : 2.0 and the location is mysuru .</a:t>
            </a:r>
            <a:endParaRPr lang="en-IN" sz="2000" dirty="0"/>
          </a:p>
        </p:txBody>
      </p:sp>
      <p:pic>
        <p:nvPicPr>
          <p:cNvPr id="2050" name="Picture 2">
            <a:extLst>
              <a:ext uri="{FF2B5EF4-FFF2-40B4-BE49-F238E27FC236}">
                <a16:creationId xmlns:a16="http://schemas.microsoft.com/office/drawing/2014/main" id="{6169752D-B905-4C0B-9373-8BF0C3A88B8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58957" y="1070985"/>
            <a:ext cx="8295860" cy="320946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73EDAC0-951B-4809-9909-9D55C0FB0C37}"/>
              </a:ext>
            </a:extLst>
          </p:cNvPr>
          <p:cNvSpPr txBox="1"/>
          <p:nvPr/>
        </p:nvSpPr>
        <p:spPr>
          <a:xfrm>
            <a:off x="894522" y="4702079"/>
            <a:ext cx="10402955" cy="646331"/>
          </a:xfrm>
          <a:prstGeom prst="rect">
            <a:avLst/>
          </a:prstGeom>
          <a:noFill/>
        </p:spPr>
        <p:txBody>
          <a:bodyPr wrap="square">
            <a:spAutoFit/>
          </a:bodyPr>
          <a:lstStyle/>
          <a:p>
            <a:r>
              <a:rPr lang="en-US" dirty="0"/>
              <a:t>4</a:t>
            </a:r>
            <a:r>
              <a:rPr lang="en-US" dirty="0">
                <a:solidFill>
                  <a:schemeClr val="accent2">
                    <a:lumMod val="75000"/>
                  </a:schemeClr>
                </a:solidFill>
              </a:rPr>
              <a:t>. Are certain times more prone to fraud?</a:t>
            </a:r>
          </a:p>
          <a:p>
            <a:r>
              <a:rPr lang="en-US" dirty="0">
                <a:solidFill>
                  <a:schemeClr val="accent2">
                    <a:lumMod val="75000"/>
                  </a:schemeClr>
                </a:solidFill>
              </a:rPr>
              <a:t> Answer : In Thuseday more fraud occur.</a:t>
            </a:r>
            <a:endParaRPr lang="en-IN" dirty="0">
              <a:solidFill>
                <a:schemeClr val="accent2">
                  <a:lumMod val="75000"/>
                </a:schemeClr>
              </a:solidFill>
            </a:endParaRPr>
          </a:p>
        </p:txBody>
      </p:sp>
      <p:pic>
        <p:nvPicPr>
          <p:cNvPr id="2052" name="Picture 4">
            <a:extLst>
              <a:ext uri="{FF2B5EF4-FFF2-40B4-BE49-F238E27FC236}">
                <a16:creationId xmlns:a16="http://schemas.microsoft.com/office/drawing/2014/main" id="{435E48D6-3296-4FBC-ADEB-2E40DD5C04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0382" y="4384027"/>
            <a:ext cx="6480313" cy="2334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399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B4C56-89E2-450C-AF18-63FC7C174551}"/>
              </a:ext>
            </a:extLst>
          </p:cNvPr>
          <p:cNvSpPr>
            <a:spLocks noGrp="1"/>
          </p:cNvSpPr>
          <p:nvPr>
            <p:ph type="title"/>
          </p:nvPr>
        </p:nvSpPr>
        <p:spPr>
          <a:xfrm>
            <a:off x="838200" y="365126"/>
            <a:ext cx="10515600" cy="628788"/>
          </a:xfrm>
        </p:spPr>
        <p:txBody>
          <a:bodyPr>
            <a:normAutofit fontScale="90000"/>
          </a:bodyPr>
          <a:lstStyle/>
          <a:p>
            <a:r>
              <a:rPr lang="en-US" sz="2000" dirty="0">
                <a:latin typeface="+mn-lt"/>
              </a:rPr>
              <a:t>5. Which device type or channel is most risky?</a:t>
            </a:r>
            <a:br>
              <a:rPr lang="en-US" sz="2000" dirty="0">
                <a:latin typeface="+mn-lt"/>
              </a:rPr>
            </a:br>
            <a:r>
              <a:rPr lang="en-US" sz="2000" dirty="0">
                <a:latin typeface="+mn-lt"/>
              </a:rPr>
              <a:t>Answer : UPI is the most risky channel. </a:t>
            </a:r>
            <a:endParaRPr lang="en-IN" sz="2000" dirty="0">
              <a:latin typeface="+mn-lt"/>
            </a:endParaRPr>
          </a:p>
        </p:txBody>
      </p:sp>
      <p:sp>
        <p:nvSpPr>
          <p:cNvPr id="3" name="Content Placeholder 2">
            <a:extLst>
              <a:ext uri="{FF2B5EF4-FFF2-40B4-BE49-F238E27FC236}">
                <a16:creationId xmlns:a16="http://schemas.microsoft.com/office/drawing/2014/main" id="{3C5C1911-51AE-435B-9242-AC8D2D2E1EC1}"/>
              </a:ext>
            </a:extLst>
          </p:cNvPr>
          <p:cNvSpPr>
            <a:spLocks noGrp="1"/>
          </p:cNvSpPr>
          <p:nvPr>
            <p:ph idx="1"/>
          </p:nvPr>
        </p:nvSpPr>
        <p:spPr>
          <a:xfrm>
            <a:off x="838200" y="4041912"/>
            <a:ext cx="10515600" cy="2135050"/>
          </a:xfrm>
        </p:spPr>
        <p:txBody>
          <a:bodyPr>
            <a:normAutofit/>
          </a:bodyPr>
          <a:lstStyle/>
          <a:p>
            <a:pPr marL="0" indent="0">
              <a:buNone/>
            </a:pPr>
            <a:endParaRPr lang="en-US" sz="2000" dirty="0"/>
          </a:p>
          <a:p>
            <a:pPr marL="0" indent="0">
              <a:buNone/>
            </a:pPr>
            <a:r>
              <a:rPr lang="en-US" sz="2000" dirty="0">
                <a:solidFill>
                  <a:schemeClr val="accent2">
                    <a:lumMod val="75000"/>
                  </a:schemeClr>
                </a:solidFill>
              </a:rPr>
              <a:t>6. Which customers have the most frauds? </a:t>
            </a:r>
          </a:p>
          <a:p>
            <a:pPr marL="0" indent="0">
              <a:buNone/>
            </a:pPr>
            <a:r>
              <a:rPr lang="en-IN" sz="2000" dirty="0"/>
              <a:t>Answer : Customer Id : CUST65770 has more fraud and fraud no is 2</a:t>
            </a:r>
          </a:p>
        </p:txBody>
      </p:sp>
      <p:pic>
        <p:nvPicPr>
          <p:cNvPr id="3074" name="Picture 2">
            <a:extLst>
              <a:ext uri="{FF2B5EF4-FFF2-40B4-BE49-F238E27FC236}">
                <a16:creationId xmlns:a16="http://schemas.microsoft.com/office/drawing/2014/main" id="{EFE74ECF-99F0-44D4-846D-0AAFC33B80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1" y="1113183"/>
            <a:ext cx="9604512" cy="3154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402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7EC56-CC41-4DFA-BD7C-3EBCDD021FC3}"/>
              </a:ext>
            </a:extLst>
          </p:cNvPr>
          <p:cNvSpPr>
            <a:spLocks noGrp="1"/>
          </p:cNvSpPr>
          <p:nvPr>
            <p:ph type="title"/>
          </p:nvPr>
        </p:nvSpPr>
        <p:spPr>
          <a:xfrm>
            <a:off x="838200" y="365126"/>
            <a:ext cx="10515600" cy="443258"/>
          </a:xfrm>
        </p:spPr>
        <p:txBody>
          <a:bodyPr>
            <a:normAutofit fontScale="90000"/>
          </a:bodyPr>
          <a:lstStyle/>
          <a:p>
            <a:r>
              <a:rPr lang="en-US" sz="2000" dirty="0">
                <a:latin typeface="+mn-lt"/>
              </a:rPr>
              <a:t>7. Which merchants or regions have repeated suspicious activity? </a:t>
            </a:r>
            <a:br>
              <a:rPr lang="en-US" sz="2000" dirty="0">
                <a:latin typeface="+mn-lt"/>
              </a:rPr>
            </a:br>
            <a:r>
              <a:rPr lang="en-US" sz="2000" dirty="0">
                <a:latin typeface="+mn-lt"/>
              </a:rPr>
              <a:t>Answer : </a:t>
            </a:r>
            <a:endParaRPr lang="en-IN" sz="2000" dirty="0">
              <a:latin typeface="+mn-lt"/>
            </a:endParaRPr>
          </a:p>
        </p:txBody>
      </p:sp>
      <p:sp>
        <p:nvSpPr>
          <p:cNvPr id="3" name="Content Placeholder 2">
            <a:extLst>
              <a:ext uri="{FF2B5EF4-FFF2-40B4-BE49-F238E27FC236}">
                <a16:creationId xmlns:a16="http://schemas.microsoft.com/office/drawing/2014/main" id="{6FFCECFA-4215-462C-949B-B8895828DA3D}"/>
              </a:ext>
            </a:extLst>
          </p:cNvPr>
          <p:cNvSpPr>
            <a:spLocks noGrp="1"/>
          </p:cNvSpPr>
          <p:nvPr>
            <p:ph idx="1"/>
          </p:nvPr>
        </p:nvSpPr>
        <p:spPr>
          <a:xfrm>
            <a:off x="838200" y="4591189"/>
            <a:ext cx="10515600" cy="1585774"/>
          </a:xfrm>
        </p:spPr>
        <p:txBody>
          <a:bodyPr>
            <a:normAutofit/>
          </a:bodyPr>
          <a:lstStyle/>
          <a:p>
            <a:pPr marL="0" indent="0">
              <a:buNone/>
            </a:pPr>
            <a:r>
              <a:rPr lang="en-US" sz="2000" dirty="0">
                <a:solidFill>
                  <a:schemeClr val="accent2">
                    <a:lumMod val="75000"/>
                  </a:schemeClr>
                </a:solidFill>
              </a:rPr>
              <a:t>8.Is there a specific time/day </a:t>
            </a:r>
          </a:p>
          <a:p>
            <a:pPr marL="0" indent="0">
              <a:buNone/>
            </a:pPr>
            <a:r>
              <a:rPr lang="en-US" sz="2000" dirty="0">
                <a:solidFill>
                  <a:schemeClr val="accent2">
                    <a:lumMod val="75000"/>
                  </a:schemeClr>
                </a:solidFill>
              </a:rPr>
              <a:t>when fraud occurs most? </a:t>
            </a:r>
          </a:p>
          <a:p>
            <a:pPr marL="0" indent="0">
              <a:buNone/>
            </a:pPr>
            <a:r>
              <a:rPr lang="en-IN" sz="2000" dirty="0"/>
              <a:t>Answer : Wednesday</a:t>
            </a:r>
          </a:p>
        </p:txBody>
      </p:sp>
      <p:pic>
        <p:nvPicPr>
          <p:cNvPr id="4098" name="Picture 2">
            <a:extLst>
              <a:ext uri="{FF2B5EF4-FFF2-40B4-BE49-F238E27FC236}">
                <a16:creationId xmlns:a16="http://schemas.microsoft.com/office/drawing/2014/main" id="{53BAD590-6BCF-4DA6-A037-AEF8CE9DAC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1565" y="808384"/>
            <a:ext cx="9263270" cy="3578086"/>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EF5F7FD3-B45C-4FF3-8138-753E8C6A58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4628" y="4591189"/>
            <a:ext cx="7328014" cy="22668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7804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DCF2D-83F9-4223-B89A-17C93771AB8C}"/>
              </a:ext>
            </a:extLst>
          </p:cNvPr>
          <p:cNvSpPr>
            <a:spLocks noGrp="1"/>
          </p:cNvSpPr>
          <p:nvPr>
            <p:ph type="title"/>
          </p:nvPr>
        </p:nvSpPr>
        <p:spPr>
          <a:xfrm>
            <a:off x="838200" y="365126"/>
            <a:ext cx="10515600" cy="589032"/>
          </a:xfrm>
        </p:spPr>
        <p:txBody>
          <a:bodyPr>
            <a:normAutofit fontScale="90000"/>
          </a:bodyPr>
          <a:lstStyle/>
          <a:p>
            <a:r>
              <a:rPr lang="en-US" sz="2000" dirty="0">
                <a:latin typeface="+mn-lt"/>
              </a:rPr>
              <a:t>9. Are high-value transactions more likely to be fraudulent? </a:t>
            </a:r>
            <a:br>
              <a:rPr lang="en-US" sz="2000" dirty="0">
                <a:latin typeface="+mn-lt"/>
              </a:rPr>
            </a:br>
            <a:r>
              <a:rPr lang="en-US" sz="2000" dirty="0">
                <a:latin typeface="+mn-lt"/>
              </a:rPr>
              <a:t>Answer :  High value transaction is 58.21</a:t>
            </a:r>
            <a:endParaRPr lang="en-IN" sz="2000" dirty="0">
              <a:latin typeface="+mn-lt"/>
            </a:endParaRPr>
          </a:p>
        </p:txBody>
      </p:sp>
      <p:sp>
        <p:nvSpPr>
          <p:cNvPr id="3" name="Content Placeholder 2">
            <a:extLst>
              <a:ext uri="{FF2B5EF4-FFF2-40B4-BE49-F238E27FC236}">
                <a16:creationId xmlns:a16="http://schemas.microsoft.com/office/drawing/2014/main" id="{DD9478EE-F800-43A2-8591-28FBEFEFA262}"/>
              </a:ext>
            </a:extLst>
          </p:cNvPr>
          <p:cNvSpPr>
            <a:spLocks noGrp="1"/>
          </p:cNvSpPr>
          <p:nvPr>
            <p:ph idx="1"/>
          </p:nvPr>
        </p:nvSpPr>
        <p:spPr>
          <a:xfrm>
            <a:off x="838199" y="1205949"/>
            <a:ext cx="11208027" cy="4971014"/>
          </a:xfrm>
        </p:spPr>
        <p:txBody>
          <a:bodyPr>
            <a:normAutofit/>
          </a:bodyPr>
          <a:lstStyle/>
          <a:p>
            <a:pPr marL="0" indent="0">
              <a:buNone/>
            </a:pPr>
            <a:r>
              <a:rPr lang="en-US" sz="2000" dirty="0">
                <a:solidFill>
                  <a:schemeClr val="accent2">
                    <a:lumMod val="75000"/>
                  </a:schemeClr>
                </a:solidFill>
              </a:rPr>
              <a:t>10.Which locations have the highest fraud density?</a:t>
            </a:r>
          </a:p>
          <a:p>
            <a:pPr marL="0" indent="0">
              <a:buNone/>
            </a:pPr>
            <a:r>
              <a:rPr lang="en-US" sz="2000" dirty="0"/>
              <a:t>Answer : Mysuru is the highest fraud density location .</a:t>
            </a:r>
          </a:p>
          <a:p>
            <a:pPr marL="0" indent="0">
              <a:buNone/>
            </a:pPr>
            <a:endParaRPr lang="en-IN" sz="2000" b="1" dirty="0"/>
          </a:p>
        </p:txBody>
      </p:sp>
      <p:pic>
        <p:nvPicPr>
          <p:cNvPr id="5124" name="Picture 4">
            <a:extLst>
              <a:ext uri="{FF2B5EF4-FFF2-40B4-BE49-F238E27FC236}">
                <a16:creationId xmlns:a16="http://schemas.microsoft.com/office/drawing/2014/main" id="{F9B343AE-8C51-4A06-B530-CFAEEC891D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2107095"/>
            <a:ext cx="10359888" cy="44924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82688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8D77965-C07E-4CBD-8F01-C940FE5C00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8540" y="92765"/>
            <a:ext cx="11754678" cy="6652591"/>
          </a:xfrm>
        </p:spPr>
      </p:pic>
    </p:spTree>
    <p:extLst>
      <p:ext uri="{BB962C8B-B14F-4D97-AF65-F5344CB8AC3E}">
        <p14:creationId xmlns:p14="http://schemas.microsoft.com/office/powerpoint/2010/main" val="142624762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49</TotalTime>
  <Words>349</Words>
  <Application>Microsoft Office PowerPoint</Application>
  <PresentationFormat>Widescreen</PresentationFormat>
  <Paragraphs>25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system-ui</vt:lpstr>
      <vt:lpstr>Trebuchet MS</vt:lpstr>
      <vt:lpstr>Wingdings 3</vt:lpstr>
      <vt:lpstr>Facet</vt:lpstr>
      <vt:lpstr>Fraud Transaction Analysis Project                       By : Abhay Vardhan Pandey</vt:lpstr>
      <vt:lpstr>1. Project Overview </vt:lpstr>
      <vt:lpstr>3. Tools &amp; Technologies : SQL, Python, NumPy, Pandas, Matplotlib, Seaborn, Power BI (Optional)</vt:lpstr>
      <vt:lpstr>3. What are high-risk customers and locations? Answer : High risk customer : 2.0 and the location is mysuru .</vt:lpstr>
      <vt:lpstr>5. Which device type or channel is most risky? Answer : UPI is the most risky channel. </vt:lpstr>
      <vt:lpstr>7. Which merchants or regions have repeated suspicious activity?  Answer : </vt:lpstr>
      <vt:lpstr>9. Are high-value transactions more likely to be fraudulent?  Answer :  High value transaction is 58.21</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Transaction Analysis Project                       By : Abhay Vardhan Pandey</dc:title>
  <dc:creator>DELL</dc:creator>
  <cp:lastModifiedBy>DELL</cp:lastModifiedBy>
  <cp:revision>7</cp:revision>
  <dcterms:created xsi:type="dcterms:W3CDTF">2025-11-10T12:00:40Z</dcterms:created>
  <dcterms:modified xsi:type="dcterms:W3CDTF">2025-11-10T12:50:36Z</dcterms:modified>
</cp:coreProperties>
</file>